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Curriculum-grounding rate by language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fix</c:v>
                </c:pt>
              </c:strCache>
            </c:strRef>
          </c:tx>
          <c:spPr>
            <a:solidFill>
              <a:srgbClr val="5B3FE0"/>
            </a:solidFill>
          </c:spPr>
          <c:cat>
            <c:strRef>
              <c:f>Sheet1!$A$2:$A$6</c:f>
              <c:strCache>
                <c:ptCount val="5"/>
                <c:pt idx="0">
                  <c:v>English</c:v>
                </c:pt>
                <c:pt idx="1">
                  <c:v>B. Melayu</c:v>
                </c:pt>
                <c:pt idx="2">
                  <c:v>Thai</c:v>
                </c:pt>
                <c:pt idx="3">
                  <c:v>Viet</c:v>
                </c:pt>
                <c:pt idx="4">
                  <c:v>Iban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75</c:v>
                </c:pt>
                <c:pt idx="2">
                  <c:v>50</c:v>
                </c:pt>
                <c:pt idx="3">
                  <c:v>50</c:v>
                </c:pt>
                <c:pt idx="4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cross-lingual</c:v>
                </c:pt>
              </c:strCache>
            </c:strRef>
          </c:tx>
          <c:spPr>
            <a:solidFill>
              <a:srgbClr val="1E8E3E"/>
            </a:solidFill>
          </c:spPr>
          <c:cat>
            <c:strRef>
              <c:f>Sheet1!$A$2:$A$6</c:f>
              <c:strCache>
                <c:ptCount val="5"/>
                <c:pt idx="0">
                  <c:v>English</c:v>
                </c:pt>
                <c:pt idx="1">
                  <c:v>B. Melayu</c:v>
                </c:pt>
                <c:pt idx="2">
                  <c:v>Thai</c:v>
                </c:pt>
                <c:pt idx="3">
                  <c:v>Viet</c:v>
                </c:pt>
                <c:pt idx="4">
                  <c:v>Iban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75</c:v>
                </c:pt>
                <c:pt idx="2">
                  <c:v>62</c:v>
                </c:pt>
                <c:pt idx="3">
                  <c:v>62</c:v>
                </c:pt>
                <c:pt idx="4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RAG quality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 %</c:v>
                </c:pt>
              </c:strCache>
            </c:strRef>
          </c:tx>
          <c:spPr>
            <a:solidFill>
              <a:srgbClr val="5B3FE0"/>
            </a:solidFill>
          </c:spPr>
          <c:cat>
            <c:strRef>
              <c:f>Sheet1!$A$2:$A$5</c:f>
              <c:strCache>
                <c:ptCount val="4"/>
                <c:pt idx="0">
                  <c:v>Recall</c:v>
                </c:pt>
                <c:pt idx="1">
                  <c:v>Precision</c:v>
                </c:pt>
                <c:pt idx="2">
                  <c:v>Concept cov.</c:v>
                </c:pt>
                <c:pt idx="3">
                  <c:v>Non-resp.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79</c:v>
                </c:pt>
                <c:pt idx="2">
                  <c:v>97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3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3B2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0" b="1" i="0">
                <a:solidFill>
                  <a:srgbClr val="FFFFFF"/>
                </a:solidFill>
                <a:latin typeface="Calibri"/>
              </a:rPr>
              <a:t>Edge</a:t>
            </a:r>
          </a:p>
          <a:p>
            <a:pPr algn="l">
              <a:spcAft>
                <a:spcPts val="600"/>
              </a:spcAft>
            </a:pPr>
            <a:r>
              <a:rPr sz="3200" b="0" i="0">
                <a:solidFill>
                  <a:srgbClr val="E7E0FF"/>
                </a:solidFill>
                <a:latin typeface="Calibri"/>
              </a:rPr>
              <a:t>AI Education at the Last Mile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532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UM – Gunners   ·   University of Malaya   ·   Malaysia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8CEFF"/>
                </a:solidFill>
                <a:latin typeface="Calibri"/>
              </a:rPr>
              <a:t>Track: AI for Education   ·   ASEAN AI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338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3FE0"/>
                </a:solidFill>
                <a:latin typeface="Calibri"/>
              </a:rPr>
              <a:t>THE CHALLENGE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1E28"/>
                </a:solidFill>
                <a:latin typeface="Calibri"/>
              </a:rPr>
              <a:t>60M+ rural learners, left offline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66"/>
                </a:solidFill>
                <a:latin typeface="Calibri"/>
              </a:rPr>
              <a:t>Edge — AI Education at the Last Mile   ·   UM-Gunners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173736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5B3FE0"/>
                </a:solidFill>
                <a:latin typeface="Calibri"/>
              </a:rPr>
              <a:t>60M+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E1E28"/>
                </a:solidFill>
                <a:latin typeface="Calibri"/>
              </a:rPr>
              <a:t>rural ASEAN learners excluded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5A66"/>
                </a:solidFill>
                <a:latin typeface="Calibri"/>
              </a:rPr>
              <a:t>no internet · no grid · no mother-tongue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173736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0E809B"/>
                </a:solidFill>
                <a:latin typeface="Calibri"/>
              </a:rPr>
              <a:t>18%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E1E28"/>
                </a:solidFill>
                <a:latin typeface="Calibri"/>
              </a:rPr>
              <a:t>rural internet (Timor-Leste)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5A66"/>
                </a:solidFill>
                <a:latin typeface="Calibri"/>
              </a:rPr>
              <a:t>25% Myanmar · 28% Laos (ITU 2023)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474720" cy="173736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B06000"/>
                </a:solidFill>
                <a:latin typeface="Calibri"/>
              </a:rPr>
              <a:t>55%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E1E28"/>
                </a:solidFill>
                <a:latin typeface="Calibri"/>
              </a:rPr>
              <a:t>Filipino 15-yos below PISA maths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5A66"/>
                </a:solidFill>
                <a:latin typeface="Calibri"/>
              </a:rPr>
              <a:t>30% Cambodian G5 read (UNICEF 2019)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1E1E28"/>
                </a:solidFill>
                <a:latin typeface="Calibri"/>
              </a:rPr>
              <a:t>•  Cloud AI (ChatGPT, etc.) is built for the connected world and fails entirely off-grid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1E1E28"/>
                </a:solidFill>
                <a:latin typeface="Calibri"/>
              </a:rPr>
              <a:t>•  The communities with the least connectivity have the least access to quality tutoring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1E1E28"/>
                </a:solidFill>
                <a:latin typeface="Calibri"/>
              </a:rPr>
              <a:t>•  Mother-tongue and minority-language learners are unserved by dominant-language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338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3FE0"/>
                </a:solidFill>
                <a:latin typeface="Calibri"/>
              </a:rPr>
              <a:t>THE SOLUTION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1E28"/>
                </a:solidFill>
                <a:latin typeface="Calibri"/>
              </a:rPr>
              <a:t>An offline AI tutor on a $220 solar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66"/>
                </a:solidFill>
                <a:latin typeface="Calibri"/>
              </a:rPr>
              <a:t>Edge — AI Education at the Last Mile   ·   UM-Gunners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1155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1E1E28"/>
                </a:solidFill>
                <a:latin typeface="Calibri"/>
              </a:rPr>
              <a:t>•  A fully offline, solar-powered AI tutoring hub on a Raspberry Pi — broadcasts local Wi-Fi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1E1E28"/>
                </a:solidFill>
                <a:latin typeface="Calibri"/>
              </a:rPr>
              <a:t>•  Students connect from their own phones, no internet; an Agentic RAG pipeline answers in their mother tongue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1E1E28"/>
                </a:solidFill>
                <a:latin typeface="Calibri"/>
              </a:rPr>
              <a:t>•  Curriculum-grounded answers, adaptive quizzes, voice interaction, PDF microcredentials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77639"/>
            <a:ext cx="2697480" cy="155448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46304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5B3FE0"/>
                </a:solidFill>
                <a:latin typeface="Calibri"/>
              </a:rPr>
              <a:t>100% Offline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5A66"/>
                </a:solidFill>
                <a:latin typeface="Calibri"/>
              </a:rPr>
              <a:t>no internet, ever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3977639"/>
            <a:ext cx="2697480" cy="155448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46304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E809B"/>
                </a:solidFill>
                <a:latin typeface="Calibri"/>
              </a:rPr>
              <a:t>Mother-tongue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5A66"/>
                </a:solidFill>
                <a:latin typeface="Calibri"/>
              </a:rPr>
              <a:t>incl. Iban, Cebuano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3977639"/>
            <a:ext cx="2697480" cy="155448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46304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E8E3E"/>
                </a:solidFill>
                <a:latin typeface="Calibri"/>
              </a:rPr>
              <a:t>Grounded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5A66"/>
                </a:solidFill>
                <a:latin typeface="Calibri"/>
              </a:rPr>
              <a:t>0% hallucination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89136" y="3977639"/>
            <a:ext cx="2697480" cy="155448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46304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B06000"/>
                </a:solidFill>
                <a:latin typeface="Calibri"/>
              </a:rPr>
              <a:t>$0.60 / student / yr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5A66"/>
                </a:solidFill>
                <a:latin typeface="Calibri"/>
              </a:rPr>
              <a:t>solar, no cloud fees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338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3FE0"/>
                </a:solidFill>
                <a:latin typeface="Calibri"/>
              </a:rPr>
              <a:t>COMPETITIVE ADVANTAGE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1E28"/>
                </a:solidFill>
                <a:latin typeface="Calibri"/>
              </a:rPr>
              <a:t>Why Edge, not the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66"/>
                </a:solidFill>
                <a:latin typeface="Calibri"/>
              </a:rPr>
              <a:t>Edge — AI Education at the Last Mile   ·   UM-Gunners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49240" cy="429768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9377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5A5A66"/>
                </a:solidFill>
                <a:latin typeface="Calibri"/>
              </a:rPr>
              <a:t>Cloud AI (ChatGPT…)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A5A66"/>
                </a:solidFill>
                <a:latin typeface="Calibri"/>
              </a:rPr>
              <a:t>✕  Needs constant internet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A5A66"/>
                </a:solidFill>
                <a:latin typeface="Calibri"/>
              </a:rPr>
              <a:t>✕  Recurring subscription cost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A5A66"/>
                </a:solidFill>
                <a:latin typeface="Calibri"/>
              </a:rPr>
              <a:t>✕  Dominant languages only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A5A66"/>
                </a:solidFill>
                <a:latin typeface="Calibri"/>
              </a:rPr>
              <a:t>✕  Ungrounded — hallucinates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A5A66"/>
                </a:solidFill>
                <a:latin typeface="Calibri"/>
              </a:rPr>
              <a:t>✕  No teacher analytics /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9377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1E8E3E"/>
                </a:solidFill>
                <a:latin typeface="Calibri"/>
              </a:rPr>
              <a:t>Edge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1E28"/>
                </a:solidFill>
                <a:latin typeface="Calibri"/>
              </a:rPr>
              <a:t>✓  Runs 100% offline on solar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1E28"/>
                </a:solidFill>
                <a:latin typeface="Calibri"/>
              </a:rPr>
              <a:t>✓  ≈$0.60/student/yr, no fees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1E28"/>
                </a:solidFill>
                <a:latin typeface="Calibri"/>
              </a:rPr>
              <a:t>✓  Mother-tongue incl. low-resource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1E28"/>
                </a:solidFill>
                <a:latin typeface="Calibri"/>
              </a:rPr>
              <a:t>✓  Curriculum-grounded, 0% false-grounding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1E28"/>
                </a:solidFill>
                <a:latin typeface="Calibri"/>
              </a:rPr>
              <a:t>✓  Teacher dashboard + full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338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3FE0"/>
                </a:solidFill>
                <a:latin typeface="Calibri"/>
              </a:rPr>
              <a:t>TECHNICAL ARCHITECTURE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1E28"/>
                </a:solidFill>
                <a:latin typeface="Calibri"/>
              </a:rPr>
              <a:t>A 4-agent offline Agentic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66"/>
                </a:solidFill>
                <a:latin typeface="Calibri"/>
              </a:rPr>
              <a:t>Edge — AI Education at the Last Mile   ·   UM-Gunners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737360" cy="1463040"/>
          </a:xfrm>
          <a:prstGeom prst="roundRect">
            <a:avLst/>
          </a:prstGeom>
          <a:solidFill>
            <a:srgbClr val="0E8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1645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Voice / text</a:t>
            </a:r>
            <a:br/>
            <a:r>
              <a:t>query</a:t>
            </a:r>
            <a:br/>
            <a:r>
              <a:t>(dialect)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59152" y="2880360"/>
            <a:ext cx="365760" cy="457200"/>
          </a:xfrm>
          <a:prstGeom prst="rightArrow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2377440"/>
            <a:ext cx="1600200" cy="1463040"/>
          </a:xfrm>
          <a:prstGeom prst="roundRect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468880"/>
            <a:ext cx="16002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1. Translation</a:t>
            </a:r>
            <a:br/>
            <a:r>
              <a:t>Agent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52544" y="2880360"/>
            <a:ext cx="365760" cy="457200"/>
          </a:xfrm>
          <a:prstGeom prst="rightArrow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36592" y="2377440"/>
            <a:ext cx="1600200" cy="1463040"/>
          </a:xfrm>
          <a:prstGeom prst="roundRect">
            <a:avLst/>
          </a:prstGeom>
          <a:solidFill>
            <a:srgbClr val="3B2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468880"/>
            <a:ext cx="16002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2. Personalised</a:t>
            </a:r>
            <a:br/>
            <a:r>
              <a:t>Context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345936" y="2880360"/>
            <a:ext cx="365760" cy="457200"/>
          </a:xfrm>
          <a:prstGeom prst="rightArrow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29984" y="2377440"/>
            <a:ext cx="1600200" cy="1463040"/>
          </a:xfrm>
          <a:prstGeom prst="roundRect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9984" y="2468880"/>
            <a:ext cx="16002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3. Pedagogical</a:t>
            </a:r>
            <a:br/>
            <a:r>
              <a:t>Reasoning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339328" y="2880360"/>
            <a:ext cx="365760" cy="457200"/>
          </a:xfrm>
          <a:prstGeom prst="rightArrow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23376" y="2377440"/>
            <a:ext cx="1600200" cy="1463040"/>
          </a:xfrm>
          <a:prstGeom prst="roundRect">
            <a:avLst/>
          </a:prstGeom>
          <a:solidFill>
            <a:srgbClr val="3B2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23376" y="2468880"/>
            <a:ext cx="16002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4. Verification</a:t>
            </a:r>
            <a:br/>
            <a:r>
              <a:t>Agent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332720" y="2880360"/>
            <a:ext cx="365760" cy="457200"/>
          </a:xfrm>
          <a:prstGeom prst="rightArrow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716768" y="2377440"/>
            <a:ext cx="1783080" cy="1463040"/>
          </a:xfrm>
          <a:prstGeom prst="round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16768" y="2468880"/>
            <a:ext cx="1783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Grounded</a:t>
            </a:r>
            <a:br/>
            <a:r>
              <a:t>mother-tongue</a:t>
            </a:r>
            <a:br/>
            <a:r>
              <a:t>answer + citations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5A66"/>
                </a:solidFill>
                <a:latin typeface="Calibri"/>
              </a:rPr>
              <a:t>Knowledge: ChromaDB (cross-lingual vectors over OER PDFs) · SQLite (profiles, progress, audit)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29200"/>
            <a:ext cx="10972800" cy="91440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E1E28"/>
                </a:solidFill>
                <a:latin typeface="Calibri"/>
              </a:rPr>
              <a:t>Hardware (100% offline):  Solar panel → battery → Raspberry Pi → Wi-Fi router → students' phones    ·    two-node split for memory-constrained 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338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3FE0"/>
                </a:solidFill>
                <a:latin typeface="Calibri"/>
              </a:rPr>
              <a:t>AI APPROACH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1E28"/>
                </a:solidFill>
                <a:latin typeface="Calibri"/>
              </a:rPr>
              <a:t>Open-weight models, chosen for the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66"/>
                </a:solidFill>
                <a:latin typeface="Calibri"/>
              </a:rPr>
              <a:t>Edge — AI Education at the Last Mile   ·   UM-Gunners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49240" cy="196596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5B3FE0"/>
                </a:solidFill>
                <a:latin typeface="Calibri"/>
              </a:rPr>
              <a:t>Phi-3 Mini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A5A66"/>
                </a:solidFill>
                <a:latin typeface="Calibri"/>
              </a:rPr>
              <a:t>4-bit GGUF · Ollama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1E28"/>
                </a:solidFill>
                <a:latin typeface="Calibri"/>
              </a:rPr>
              <a:t>Reasoning &amp; tutoring — small enough for on-device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49240" cy="196596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10512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E809B"/>
                </a:solidFill>
                <a:latin typeface="Calibri"/>
              </a:rPr>
              <a:t>MiniLM-L12 (multilingual)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A5A66"/>
                </a:solidFill>
                <a:latin typeface="Calibri"/>
              </a:rPr>
              <a:t>paraphrase-multilingual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1E28"/>
                </a:solidFill>
                <a:latin typeface="Calibri"/>
              </a:rPr>
              <a:t>Cross-lingual retrieval — the key to the bias fix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0480"/>
            <a:ext cx="5349240" cy="196596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05072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E8E3E"/>
                </a:solidFill>
                <a:latin typeface="Calibri"/>
              </a:rPr>
              <a:t>NLLB-200-distilled-600M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A5A66"/>
                </a:solidFill>
                <a:latin typeface="Calibri"/>
              </a:rPr>
              <a:t>+ glossary bridge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1E28"/>
                </a:solidFill>
                <a:latin typeface="Calibri"/>
              </a:rPr>
              <a:t>NMT across ASEAN languages; bridge for non-NLLB dialects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349240" cy="196596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005072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B06000"/>
                </a:solidFill>
                <a:latin typeface="Calibri"/>
              </a:rPr>
              <a:t>Whisper.cpp + Piper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A5A66"/>
                </a:solidFill>
                <a:latin typeface="Calibri"/>
              </a:rPr>
              <a:t>ggml-base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1E28"/>
                </a:solidFill>
                <a:latin typeface="Calibri"/>
              </a:rPr>
              <a:t>Offline speech-to-text and text-to-speech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A5A66"/>
                </a:solidFill>
                <a:latin typeface="Calibri"/>
              </a:rPr>
              <a:t>Why: open-weight, permissively licensed, ARM-optimised, fully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338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3FE0"/>
                </a:solidFill>
                <a:latin typeface="Calibri"/>
              </a:rPr>
              <a:t>DATA STRATEGY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1E28"/>
                </a:solidFill>
                <a:latin typeface="Calibri"/>
              </a:rPr>
              <a:t>Curated, licensed, cleaned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66"/>
                </a:solidFill>
                <a:latin typeface="Calibri"/>
              </a:rPr>
              <a:t>Edge — AI Education at the Last Mile   ·   UM-Gunners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1E1E28"/>
                </a:solidFill>
                <a:latin typeface="Calibri"/>
              </a:rPr>
              <a:t>•  Curriculum: OpenStax (CC BY 4.0) + national OER from KPM, DepEd, Kemendikbud + team-authored lessons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1E1E28"/>
                </a:solidFill>
                <a:latin typeface="Calibri"/>
              </a:rPr>
              <a:t>•  Translation references: open VynerCK/Iban-language-data + teacher-verified corrections (the Dialect Flywheel)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1E1E28"/>
                </a:solidFill>
                <a:latin typeface="Calibri"/>
              </a:rPr>
              <a:t>•  Cleaning: manual curation against ministry standards · page-level chunking · idempotent ingestion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1E1E28"/>
                </a:solidFill>
                <a:latin typeface="Calibri"/>
              </a:rPr>
              <a:t>•  Integrity: versioned, provenance-tracked content manifest with enforced tamper quarantine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63440"/>
            <a:ext cx="10972800" cy="118872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B3FE0"/>
                </a:solidFill>
                <a:latin typeface="Calibri"/>
              </a:rPr>
              <a:t>Licensing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1E28"/>
                </a:solidFill>
                <a:latin typeface="Calibri"/>
              </a:rPr>
              <a:t>OpenStax CC BY 4.0   ·   Phi-3 MIT   ·   Piper Apache 2.0   ·   NLLB-200 CC BY-NC 4.0   ·   Iban/Cebuano CC BY 4.0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338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3FE0"/>
                </a:solidFill>
                <a:latin typeface="Calibri"/>
              </a:rPr>
              <a:t>AI ETHICS &amp; RESPONSIBILITY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1E28"/>
                </a:solidFill>
                <a:latin typeface="Calibri"/>
              </a:rPr>
              <a:t>Bias: measured, then mitigated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66"/>
                </a:solidFill>
                <a:latin typeface="Calibri"/>
              </a:rPr>
              <a:t>Edge — AI Education at the Last Mile   ·   UM-Gunners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72800" cy="77724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17904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8E3E"/>
                </a:solidFill>
                <a:latin typeface="Calibri"/>
              </a:rPr>
              <a:t>✓  100% of questions answered in EVERY language tested — 0% non-response. No student is ever left without an answer.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423160"/>
          <a:ext cx="6035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2468880"/>
            <a:ext cx="49377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E1E28"/>
                </a:solidFill>
                <a:latin typeface="Calibri"/>
              </a:rPr>
              <a:t>•  Same question, varied language: a measured bias (English 100% vs Thai 50% grounding)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E1E28"/>
                </a:solidFill>
                <a:latin typeface="Calibri"/>
              </a:rPr>
              <a:t>•  Root cause: query translation degraded retrieval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1E1E28"/>
                </a:solidFill>
                <a:latin typeface="Calibri"/>
              </a:rPr>
              <a:t>•  Fix: cross-lingual retrieval → Thai/Viet 62%, Iban fully closed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4572000"/>
            <a:ext cx="4937760" cy="137160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8016" lIns="16459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5B3FE0"/>
                </a:solidFill>
                <a:latin typeface="Calibri"/>
              </a:rPr>
              <a:t>Privacy &amp; governance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1E28"/>
                </a:solidFill>
                <a:latin typeface="Calibri"/>
              </a:rPr>
              <a:t>RBAC + per-teacher audit log · encryption (LUKS + encrypted USB) · parental consent record · retention purge &amp; right-to-erasure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338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3FE0"/>
                </a:solidFill>
                <a:latin typeface="Calibri"/>
              </a:rPr>
              <a:t>PROTOTYPE DEMONSTRATION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1E28"/>
                </a:solidFill>
                <a:latin typeface="Calibri"/>
              </a:rPr>
              <a:t>The AI, grounded and transparent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66"/>
                </a:solidFill>
                <a:latin typeface="Calibri"/>
              </a:rPr>
              <a:t>Edge — AI Education at the Last Mile   ·   UM-Gunners</a:t>
            </a:r>
          </a:p>
        </p:txBody>
      </p:sp>
      <p:pic>
        <p:nvPicPr>
          <p:cNvPr id="5" name="Picture 4" descr="demo_cha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2286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1828800"/>
            <a:ext cx="6217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E1E28"/>
                </a:solidFill>
                <a:latin typeface="Calibri"/>
              </a:rPr>
              <a:t>•  Real grounded answer with page-level citations (3 sources shown)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E1E28"/>
                </a:solidFill>
                <a:latin typeface="Calibri"/>
              </a:rPr>
              <a:t>•  Green “Verified” confidence badge — transparent about certainty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E1E28"/>
                </a:solidFill>
                <a:latin typeface="Calibri"/>
              </a:rPr>
              <a:t>•  Auto-generated fraction diagram — visual, mother-tongue ready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E1E28"/>
                </a:solidFill>
                <a:latin typeface="Calibri"/>
              </a:rPr>
              <a:t>•  Tiered logic: grounded → supplementary → controlled non-response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E1E28"/>
                </a:solidFill>
                <a:latin typeface="Calibri"/>
              </a:rPr>
              <a:t>•  Mobile-first PWA: students use their own phones, fully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539496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5B3FE0"/>
                </a:solidFill>
                <a:latin typeface="Calibri"/>
              </a:rPr>
              <a:t>▶  Demo video: https://youtu.be/Ms_y6FUbKwU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338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3FE0"/>
                </a:solidFill>
                <a:latin typeface="Calibri"/>
              </a:rPr>
              <a:t>TECHNICAL HURDLES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1E28"/>
                </a:solidFill>
                <a:latin typeface="Calibri"/>
              </a:rPr>
              <a:t>Honest reflection — problem →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66"/>
                </a:solidFill>
                <a:latin typeface="Calibri"/>
              </a:rPr>
              <a:t>Edge — AI Education at the Last Mile   ·   UM-Gunners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03520" cy="77724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5989320" y="1874520"/>
            <a:ext cx="457200" cy="411480"/>
          </a:xfrm>
          <a:prstGeom prst="rightArrow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37960" y="1691640"/>
            <a:ext cx="5029200" cy="77724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28216"/>
            <a:ext cx="5029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1E28"/>
                </a:solidFill>
                <a:latin typeface="Calibri"/>
              </a:rPr>
              <a:t>Hallucination in low-context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28216"/>
            <a:ext cx="47548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8E3E"/>
                </a:solidFill>
                <a:latin typeface="Calibri"/>
              </a:rPr>
              <a:t>Verification Agent + tiered distance gates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87752"/>
            <a:ext cx="5303520" cy="77724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989320" y="2770632"/>
            <a:ext cx="457200" cy="411480"/>
          </a:xfrm>
          <a:prstGeom prst="rightArrow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587752"/>
            <a:ext cx="5029200" cy="77724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24328"/>
            <a:ext cx="5029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1E28"/>
                </a:solidFill>
                <a:latin typeface="Calibri"/>
              </a:rPr>
              <a:t>Automated LLM judges unreliable (3.4–97%)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24328"/>
            <a:ext cx="47548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8E3E"/>
                </a:solidFill>
                <a:latin typeface="Calibri"/>
              </a:rPr>
              <a:t>Validate answer correctness with humans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83864"/>
            <a:ext cx="5303520" cy="77724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989320" y="3666744"/>
            <a:ext cx="457200" cy="411480"/>
          </a:xfrm>
          <a:prstGeom prst="rightArrow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3483864"/>
            <a:ext cx="5029200" cy="77724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520440"/>
            <a:ext cx="5029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1E28"/>
                </a:solidFill>
                <a:latin typeface="Calibri"/>
              </a:rPr>
              <a:t>Translation “looked weak” (chrF 28)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20440"/>
            <a:ext cx="47548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8E3E"/>
                </a:solidFill>
                <a:latin typeface="Calibri"/>
              </a:rPr>
              <a:t>Measurement bug — real chrF is 56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79976"/>
            <a:ext cx="5303520" cy="77724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5989320" y="4562856"/>
            <a:ext cx="457200" cy="411480"/>
          </a:xfrm>
          <a:prstGeom prst="rightArrow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379976"/>
            <a:ext cx="5029200" cy="77724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16552"/>
            <a:ext cx="5029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1E28"/>
                </a:solidFill>
                <a:latin typeface="Calibri"/>
              </a:rPr>
              <a:t>Query translation degraded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416552"/>
            <a:ext cx="47548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8E3E"/>
                </a:solidFill>
                <a:latin typeface="Calibri"/>
              </a:rPr>
              <a:t>Cross-lingual retrieval (closed the bias gap)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76088"/>
            <a:ext cx="5303520" cy="77724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5989320" y="5458968"/>
            <a:ext cx="457200" cy="411480"/>
          </a:xfrm>
          <a:prstGeom prst="rightArrow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7960" y="5276088"/>
            <a:ext cx="5029200" cy="77724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312664"/>
            <a:ext cx="5029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1E28"/>
                </a:solidFill>
                <a:latin typeface="Calibri"/>
              </a:rPr>
              <a:t>Memory pressure on a 4 GB 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312664"/>
            <a:ext cx="47548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8E3E"/>
                </a:solidFill>
                <a:latin typeface="Calibri"/>
              </a:rPr>
              <a:t>Admission queue + TTS offload + two-node split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338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3FE0"/>
                </a:solidFill>
                <a:latin typeface="Calibri"/>
              </a:rPr>
              <a:t>ACCURACY &amp; EFFICIENCY METRICS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1E28"/>
                </a:solidFill>
                <a:latin typeface="Calibri"/>
              </a:rPr>
              <a:t>Measured, not claimed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66"/>
                </a:solidFill>
                <a:latin typeface="Calibri"/>
              </a:rPr>
              <a:t>Edge — AI Education at the Last Mile   ·   UM-Gunners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606040" cy="173736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5B3FE0"/>
                </a:solidFill>
                <a:latin typeface="Calibri"/>
              </a:rPr>
              <a:t>100%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E1E28"/>
                </a:solidFill>
                <a:latin typeface="Calibri"/>
              </a:rPr>
              <a:t>Retrieval recall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5A66"/>
                </a:solidFill>
                <a:latin typeface="Calibri"/>
              </a:rPr>
              <a:t>right source always found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606040" cy="173736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1E8E3E"/>
                </a:solidFill>
                <a:latin typeface="Calibri"/>
              </a:rPr>
              <a:t>0%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E1E28"/>
                </a:solidFill>
                <a:latin typeface="Calibri"/>
              </a:rPr>
              <a:t>Hallucination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5A66"/>
                </a:solidFill>
                <a:latin typeface="Calibri"/>
              </a:rPr>
              <a:t>no false grounding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2606040" cy="173736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0E809B"/>
                </a:solidFill>
                <a:latin typeface="Calibri"/>
              </a:rPr>
              <a:t>~97%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E1E28"/>
                </a:solidFill>
                <a:latin typeface="Calibri"/>
              </a:rPr>
              <a:t>Concept coverage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5A66"/>
                </a:solidFill>
                <a:latin typeface="Calibri"/>
              </a:rPr>
              <a:t>answers contain key facts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1554480"/>
            <a:ext cx="2606040" cy="173736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B06000"/>
                </a:solidFill>
                <a:latin typeface="Calibri"/>
              </a:rPr>
              <a:t>56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E1E28"/>
                </a:solidFill>
                <a:latin typeface="Calibri"/>
              </a:rPr>
              <a:t>Iban chrF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5A66"/>
                </a:solidFill>
                <a:latin typeface="Calibri"/>
              </a:rPr>
              <a:t>decent; flywheel grows it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3520440"/>
          <a:ext cx="585216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66560" y="3611880"/>
            <a:ext cx="49377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B06000"/>
                </a:solidFill>
                <a:latin typeface="Calibri"/>
              </a:rPr>
              <a:t>Honest caveat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E1E28"/>
                </a:solidFill>
                <a:latin typeface="Calibri"/>
              </a:rPr>
              <a:t>We report concept coverage, not a single automated “accuracy %”: small LLM judges scored the same answers 3.4–97%, so answer correctness is being validated by human raters.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66"/>
                </a:solidFill>
                <a:latin typeface="Calibri"/>
              </a:rPr>
              <a:t>Load test (dev node): 0 errors under the admission queue; throughput plateaus at the single-stream SLM rate. On-Pi benchmarking is the next step.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338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3FE0"/>
                </a:solidFill>
                <a:latin typeface="Calibri"/>
              </a:rPr>
              <a:t>SCALABILITY ROADMAP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1E28"/>
                </a:solidFill>
                <a:latin typeface="Calibri"/>
              </a:rPr>
              <a:t>From one school to the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66"/>
                </a:solidFill>
                <a:latin typeface="Calibri"/>
              </a:rPr>
              <a:t>Edge — AI Education at the Last Mile   ·   UM-Gunners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468880" cy="173736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4688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5B3FE0"/>
                </a:solidFill>
                <a:latin typeface="Calibri"/>
              </a:rPr>
              <a:t>1 Hub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E1E28"/>
                </a:solidFill>
                <a:latin typeface="Calibri"/>
              </a:rPr>
              <a:t>~50 connected students,</a:t>
            </a:r>
            <a:br/>
            <a:r>
              <a:t>admission-controlled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63240" y="2651760"/>
            <a:ext cx="411480" cy="457200"/>
          </a:xfrm>
          <a:prstGeom prst="rightArrow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20440" y="2011680"/>
            <a:ext cx="2468880" cy="173736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94560"/>
            <a:ext cx="24688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5B3FE0"/>
                </a:solidFill>
                <a:latin typeface="Calibri"/>
              </a:rPr>
              <a:t>1 School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E1E28"/>
                </a:solidFill>
                <a:latin typeface="Calibri"/>
              </a:rPr>
              <a:t>two-node split for</a:t>
            </a:r>
            <a:br/>
            <a:r>
              <a:t>higher concurrency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43600" y="2651760"/>
            <a:ext cx="411480" cy="457200"/>
          </a:xfrm>
          <a:prstGeom prst="rightArrow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2468880" cy="173736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24688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5B3FE0"/>
                </a:solidFill>
                <a:latin typeface="Calibri"/>
              </a:rPr>
              <a:t>Many Schools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E1E28"/>
                </a:solidFill>
                <a:latin typeface="Calibri"/>
              </a:rPr>
              <a:t>decentralised content</a:t>
            </a:r>
            <a:br/>
            <a:r>
              <a:t>manifest + USB sync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23960" y="2651760"/>
            <a:ext cx="411480" cy="457200"/>
          </a:xfrm>
          <a:prstGeom prst="rightArrow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81160" y="2011680"/>
            <a:ext cx="2468880" cy="173736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194560"/>
            <a:ext cx="24688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5B3FE0"/>
                </a:solidFill>
                <a:latin typeface="Calibri"/>
              </a:rPr>
              <a:t>ASEAN-wide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E1E28"/>
                </a:solidFill>
                <a:latin typeface="Calibri"/>
              </a:rPr>
              <a:t>per-hub language</a:t>
            </a:r>
            <a:br/>
            <a:r>
              <a:t>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E1E28"/>
                </a:solidFill>
                <a:latin typeface="Calibri"/>
              </a:rPr>
              <a:t>•  No internet needed to update or scale — encrypted USB sneakernet deploys content &amp; DB updates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E1E28"/>
                </a:solidFill>
                <a:latin typeface="Calibri"/>
              </a:rPr>
              <a:t>•  Ministries, NGOs, schools and teachers publish curriculum independently (provenance-tracked)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338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3FE0"/>
                </a:solidFill>
                <a:latin typeface="Calibri"/>
              </a:rPr>
              <a:t>IMPACT ASSESSMENT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1E28"/>
                </a:solidFill>
                <a:latin typeface="Calibri"/>
              </a:rPr>
              <a:t>Aligned with the UN SDGs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66"/>
                </a:solidFill>
                <a:latin typeface="Calibri"/>
              </a:rPr>
              <a:t>Edge — AI Education at the Last Mile   ·   UM-Gunners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20440" cy="237744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5B3FE0"/>
                </a:solidFill>
                <a:latin typeface="Calibri"/>
              </a:rPr>
              <a:t>SDG 4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1E28"/>
                </a:solidFill>
                <a:latin typeface="Calibri"/>
              </a:rPr>
              <a:t>Quality Education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66"/>
                </a:solidFill>
                <a:latin typeface="Calibri"/>
              </a:rPr>
              <a:t>curriculum-grounded tutoring at the last mile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520440" cy="237744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57400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E809B"/>
                </a:solidFill>
                <a:latin typeface="Calibri"/>
              </a:rPr>
              <a:t>SDG 10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1E28"/>
                </a:solidFill>
                <a:latin typeface="Calibri"/>
              </a:rPr>
              <a:t>Reduced Inequalities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66"/>
                </a:solidFill>
                <a:latin typeface="Calibri"/>
              </a:rPr>
              <a:t>mother-tongue access for underserved learners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520440" cy="2377440"/>
          </a:xfrm>
          <a:prstGeom prst="roundRect">
            <a:avLst/>
          </a:prstGeom>
          <a:solidFill>
            <a:srgbClr val="F1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E8E3E"/>
                </a:solidFill>
                <a:latin typeface="Calibri"/>
              </a:rPr>
              <a:t>SDG 9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1E28"/>
                </a:solidFill>
                <a:latin typeface="Calibri"/>
              </a:rPr>
              <a:t>Infrastructure &amp; Innovation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66"/>
                </a:solidFill>
                <a:latin typeface="Calibri"/>
              </a:rPr>
              <a:t>resilient off-grid education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1E28"/>
                </a:solidFill>
                <a:latin typeface="Calibri"/>
              </a:rPr>
              <a:t>Regional resilience: learning continuity off-grid and in crises; preservation of minority languages via the ASEAN Dialect Flywheel — a public good of minority-language AI infrastructure.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3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338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3FE0"/>
                </a:solidFill>
                <a:latin typeface="Calibri"/>
              </a:rPr>
              <a:t>FUTURE ROADMAP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1E28"/>
                </a:solidFill>
                <a:latin typeface="Calibri"/>
              </a:rPr>
              <a:t>Next steps after the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5A66"/>
                </a:solidFill>
                <a:latin typeface="Calibri"/>
              </a:rPr>
              <a:t>Edge — AI Education at the Last Mile   ·   UM-Gunners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1E1E28"/>
                </a:solidFill>
                <a:latin typeface="Calibri"/>
              </a:rPr>
              <a:t>•  Micro-pilot in rural schools → measured learning outcomes (pre/post, small-n)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1E1E28"/>
                </a:solidFill>
                <a:latin typeface="Calibri"/>
              </a:rPr>
              <a:t>•  On-Pi benchmarking + two-node deployment validation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1E1E28"/>
                </a:solidFill>
                <a:latin typeface="Calibri"/>
              </a:rPr>
              <a:t>•  Fluent-speaker translation audit → sentence-level chrF; grow the dialect-glossary flywheel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1E1E28"/>
                </a:solidFill>
                <a:latin typeface="Calibri"/>
              </a:rPr>
              <a:t>•  Stronger embedder / fine-tuned MT as teacher-verified data accrues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1E1E28"/>
                </a:solidFill>
                <a:latin typeface="Calibri"/>
              </a:rPr>
              <a:t>•  Hardening: encryption rollout, parental-consent workflow, retention automation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3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Team &amp; Contact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E0D8FF"/>
                </a:solidFill>
                <a:latin typeface="Calibri"/>
              </a:rPr>
              <a:t>UM – Gunners · University of Malaya · Malaysia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94560"/>
            <a:ext cx="33832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423160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5B3FE0"/>
                </a:solidFill>
                <a:latin typeface="Calibri"/>
              </a:rPr>
              <a:t>[ Member 1 ]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66"/>
                </a:solidFill>
                <a:latin typeface="Calibri"/>
              </a:rPr>
              <a:t>Role / contribution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194560"/>
            <a:ext cx="33832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423160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5B3FE0"/>
                </a:solidFill>
                <a:latin typeface="Calibri"/>
              </a:rPr>
              <a:t>[ Member 2 ]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66"/>
                </a:solidFill>
                <a:latin typeface="Calibri"/>
              </a:rPr>
              <a:t>Role / contribution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94560"/>
            <a:ext cx="33832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2423160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5B3FE0"/>
                </a:solidFill>
                <a:latin typeface="Calibri"/>
              </a:rPr>
              <a:t>[ Member 3 ]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5A66"/>
                </a:solidFill>
                <a:latin typeface="Calibri"/>
              </a:rPr>
              <a:t>Role /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Repository:  github.com/fciacia/EduNode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0D8FF"/>
                </a:solidFill>
                <a:latin typeface="Calibri"/>
              </a:rPr>
              <a:t>Demo:  youtu.be/Ms_y6FUbKwU   ·   [ add university logo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